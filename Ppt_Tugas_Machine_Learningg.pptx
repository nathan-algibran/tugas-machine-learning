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ibre Baskerville" charset="1" panose="02000000000000000000"/>
      <p:regular r:id="rId14"/>
    </p:embeddedFont>
    <p:embeddedFont>
      <p:font typeface="Libre Baskerville Bold" charset="1" panose="02000000000000000000"/>
      <p:regular r:id="rId16"/>
    </p:embeddedFont>
    <p:embeddedFont>
      <p:font typeface="Libre Baskerville Italics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92024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22040" y="6309360"/>
            <a:ext cx="3566160" cy="3566160"/>
            <a:chOff x="0" y="0"/>
            <a:chExt cx="4754880" cy="4754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54880" cy="4754880"/>
            </a:xfrm>
            <a:custGeom>
              <a:avLst/>
              <a:gdLst/>
              <a:ahLst/>
              <a:cxnLst/>
              <a:rect r="r" b="b" t="t" l="l"/>
              <a:pathLst>
                <a:path h="4754880" w="4754880">
                  <a:moveTo>
                    <a:pt x="0" y="2377440"/>
                  </a:moveTo>
                  <a:cubicBezTo>
                    <a:pt x="0" y="1064387"/>
                    <a:pt x="1064387" y="0"/>
                    <a:pt x="2377440" y="0"/>
                  </a:cubicBezTo>
                  <a:cubicBezTo>
                    <a:pt x="3690493" y="0"/>
                    <a:pt x="4754880" y="1064387"/>
                    <a:pt x="4754880" y="2377440"/>
                  </a:cubicBezTo>
                  <a:cubicBezTo>
                    <a:pt x="4754880" y="3690493"/>
                    <a:pt x="3690493" y="4754880"/>
                    <a:pt x="2377440" y="4754880"/>
                  </a:cubicBezTo>
                  <a:cubicBezTo>
                    <a:pt x="1064387" y="4754880"/>
                    <a:pt x="0" y="3690493"/>
                    <a:pt x="0" y="2377440"/>
                  </a:cubicBezTo>
                  <a:close/>
                </a:path>
              </a:pathLst>
            </a:custGeom>
            <a:solidFill>
              <a:srgbClr val="1C7293">
                <a:alpha val="3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645920" y="7406640"/>
            <a:ext cx="4114800" cy="4114800"/>
            <a:chOff x="0" y="0"/>
            <a:chExt cx="5486400" cy="548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851660"/>
            <a:ext cx="13030200" cy="548640"/>
            <a:chOff x="0" y="0"/>
            <a:chExt cx="17373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37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spc="299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TUGAS KELOMPOK — MACHINE LEARNING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2537460"/>
            <a:ext cx="14538960" cy="3154680"/>
            <a:chOff x="0" y="0"/>
            <a:chExt cx="19385280" cy="4206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85280" cy="4206240"/>
            </a:xfrm>
            <a:custGeom>
              <a:avLst/>
              <a:gdLst/>
              <a:ahLst/>
              <a:cxnLst/>
              <a:rect r="r" b="b" t="t" l="l"/>
              <a:pathLst>
                <a:path h="420624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00" r="0" b="-398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9385280" cy="4196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5100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Analisis &amp; Implementasi Decision Tree dan Naive Bayes untuk Prediksi Kelulusan Tepat Waktu Mahasiswa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5692140"/>
            <a:ext cx="12344400" cy="548640"/>
            <a:chOff x="0" y="0"/>
            <a:chExt cx="16459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64592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Bagian B &amp; C — Rekomendasi &amp; Etika Penggunaan Model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16980">
            <a:off x="1220114" y="6642735"/>
            <a:ext cx="5789362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4440" y="6666558"/>
            <a:ext cx="6626961" cy="3146679"/>
            <a:chOff x="0" y="0"/>
            <a:chExt cx="7083086" cy="33632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83086" cy="3363261"/>
            </a:xfrm>
            <a:custGeom>
              <a:avLst/>
              <a:gdLst/>
              <a:ahLst/>
              <a:cxnLst/>
              <a:rect r="r" b="b" t="t" l="l"/>
              <a:pathLst>
                <a:path h="3363261" w="7083086">
                  <a:moveTo>
                    <a:pt x="0" y="0"/>
                  </a:moveTo>
                  <a:lnTo>
                    <a:pt x="7083086" y="0"/>
                  </a:lnTo>
                  <a:lnTo>
                    <a:pt x="7083086" y="3363261"/>
                  </a:lnTo>
                  <a:lnTo>
                    <a:pt x="0" y="3363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4" r="48361" b="6929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7083086" cy="3420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Kelompok:</a:t>
              </a:r>
            </a:p>
            <a:p>
              <a:pPr algn="l" marL="550542" indent="-275271" lvl="1">
                <a:lnSpc>
                  <a:spcPts val="3569"/>
                </a:lnSpc>
                <a:buAutoNum type="arabicPeriod" startAt="1"/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Muhammad Nathan Algibran (G1A024057)</a:t>
              </a:r>
            </a:p>
            <a:p>
              <a:pPr algn="l" marL="550542" indent="-275271" lvl="1">
                <a:lnSpc>
                  <a:spcPts val="3569"/>
                </a:lnSpc>
                <a:buAutoNum type="arabicPeriod" startAt="1"/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Muhammad Abel Cakrawangsa (G1A024077)</a:t>
              </a:r>
            </a:p>
            <a:p>
              <a:pPr algn="l">
                <a:lnSpc>
                  <a:spcPts val="3569"/>
                </a:lnSpc>
              </a:pPr>
            </a:p>
            <a:p>
              <a:pPr algn="l">
                <a:lnSpc>
                  <a:spcPts val="3569"/>
                </a:lnSpc>
              </a:pPr>
              <a:r>
                <a:rPr lang="en-US" sz="2549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0150" y="9021874"/>
            <a:ext cx="7543800" cy="480060"/>
            <a:chOff x="0" y="0"/>
            <a:chExt cx="1005840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0584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Program Studi Informatika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9501934"/>
            <a:ext cx="11928055" cy="480060"/>
            <a:chOff x="0" y="0"/>
            <a:chExt cx="15904074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904074" cy="640080"/>
            </a:xfrm>
            <a:custGeom>
              <a:avLst/>
              <a:gdLst/>
              <a:ahLst/>
              <a:cxnLst/>
              <a:rect r="r" b="b" t="t" l="l"/>
              <a:pathLst>
                <a:path h="640080" w="15904074">
                  <a:moveTo>
                    <a:pt x="0" y="0"/>
                  </a:moveTo>
                  <a:lnTo>
                    <a:pt x="15904074" y="0"/>
                  </a:lnTo>
                  <a:lnTo>
                    <a:pt x="1590407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70102" b="-947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590407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Repositori Github : https://github.com/Nathan-Algibran/TUGAS-MACHINE-LEARNING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2344400" cy="822960"/>
            <a:chOff x="0" y="0"/>
            <a:chExt cx="16459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42" r="0" b="-238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Latar Belakang &amp; Dataset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1577340"/>
            <a:ext cx="16184880" cy="548640"/>
            <a:chOff x="0" y="0"/>
            <a:chExt cx="2157984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5798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7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Prediksi status kelulusan tepat waktu mahasiswa dari data akademik &amp; aktivitas belajar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22960" y="2400300"/>
            <a:ext cx="8366760" cy="51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Fitur dataset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IPK, Kehadiran, Jam_Belajar, Organisasi, Penghasilan_Ortu, Jenis_Kelamin, dan Status_Beasiswa — target: Lulus_Tepat_Waktu (Ya/Tidak).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Praproses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Pembersihan data, encoding fitur kategorikal, lalu split 80:20 menjadi data latih dan data uji.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yang dibandingkan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Decision Tree (max_depth=3), Decision Tree (tanpa batas kedalaman), dan Gaussian Naive Bayes.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06940" y="2606040"/>
            <a:ext cx="7132320" cy="1577340"/>
            <a:chOff x="0" y="0"/>
            <a:chExt cx="9509760" cy="2103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149840" y="2770632"/>
            <a:ext cx="2468880" cy="1234440"/>
            <a:chOff x="0" y="0"/>
            <a:chExt cx="329184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291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500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550140" y="2770632"/>
            <a:ext cx="4114800" cy="1234440"/>
            <a:chOff x="0" y="0"/>
            <a:chExt cx="548640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data mahasiswa (400 latih · 100 uji)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806940" y="4457700"/>
            <a:ext cx="7132320" cy="1577340"/>
            <a:chOff x="0" y="0"/>
            <a:chExt cx="9509760" cy="2103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955377" y="4659630"/>
            <a:ext cx="2857805" cy="1234440"/>
            <a:chOff x="0" y="0"/>
            <a:chExt cx="3810407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407" cy="1645920"/>
            </a:xfrm>
            <a:custGeom>
              <a:avLst/>
              <a:gdLst/>
              <a:ahLst/>
              <a:cxnLst/>
              <a:rect r="r" b="b" t="t" l="l"/>
              <a:pathLst>
                <a:path h="1645920" w="3810407">
                  <a:moveTo>
                    <a:pt x="0" y="0"/>
                  </a:moveTo>
                  <a:lnTo>
                    <a:pt x="3810407" y="0"/>
                  </a:lnTo>
                  <a:lnTo>
                    <a:pt x="3810407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5" t="0" r="138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810407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61</a:t>
              </a: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% / 39%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50140" y="4622292"/>
            <a:ext cx="4114800" cy="1234440"/>
            <a:chOff x="0" y="0"/>
            <a:chExt cx="548640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sebaran kelas Lulus vs Tidak — relatif seimbang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6309360"/>
            <a:ext cx="7132320" cy="1577340"/>
            <a:chOff x="0" y="0"/>
            <a:chExt cx="9509760" cy="210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670720" y="6511290"/>
            <a:ext cx="2468880" cy="1234440"/>
            <a:chOff x="0" y="0"/>
            <a:chExt cx="329184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18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91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550140" y="6473952"/>
            <a:ext cx="4114800" cy="1234440"/>
            <a:chOff x="0" y="0"/>
            <a:chExt cx="548640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5486400" cy="1636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43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fitur akademik &amp; sosio-demografis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806940" y="8229600"/>
            <a:ext cx="7132320" cy="1577340"/>
            <a:chOff x="0" y="0"/>
            <a:chExt cx="9509760" cy="2103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097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9509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326880" y="0"/>
                  </a:lnTo>
                  <a:cubicBezTo>
                    <a:pt x="9427845" y="0"/>
                    <a:pt x="9509760" y="81915"/>
                    <a:pt x="9509760" y="182880"/>
                  </a:cubicBezTo>
                  <a:lnTo>
                    <a:pt x="9509760" y="1920240"/>
                  </a:lnTo>
                  <a:cubicBezTo>
                    <a:pt x="9509760" y="2021205"/>
                    <a:pt x="9427845" y="2103120"/>
                    <a:pt x="9326880" y="2103120"/>
                  </a:cubicBezTo>
                  <a:lnTo>
                    <a:pt x="182880" y="2103120"/>
                  </a:lnTo>
                  <a:cubicBezTo>
                    <a:pt x="81915" y="2103120"/>
                    <a:pt x="0" y="2021205"/>
                    <a:pt x="0" y="1920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149840" y="8305800"/>
            <a:ext cx="6446520" cy="1303020"/>
            <a:chOff x="0" y="0"/>
            <a:chExt cx="859536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95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99" r="0" b="-463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59536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FFFFFF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Dist</a:t>
              </a:r>
              <a:r>
                <a:rPr lang="en-US" sz="1800" i="true">
                  <a:solidFill>
                    <a:srgbClr val="FFFFFF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ribusi kelas sedikit tidak seimbang (61% Ya, 39% Tidak) ini salah satu penyebab recall kelas 'Tidak' lebih rendah di ketiga model.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62356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412152"/>
            <a:ext cx="12344400" cy="822960"/>
            <a:chOff x="0" y="0"/>
            <a:chExt cx="16459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442" r="0" b="-23810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64592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Hasil Evaluasi 3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4013" y="1278255"/>
            <a:ext cx="8449987" cy="4661057"/>
            <a:chOff x="0" y="0"/>
            <a:chExt cx="12406756" cy="68436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06756" cy="6843631"/>
            </a:xfrm>
            <a:custGeom>
              <a:avLst/>
              <a:gdLst/>
              <a:ahLst/>
              <a:cxnLst/>
              <a:rect r="r" b="b" t="t" l="l"/>
              <a:pathLst>
                <a:path h="6843631" w="12406756">
                  <a:moveTo>
                    <a:pt x="0" y="125895"/>
                  </a:moveTo>
                  <a:cubicBezTo>
                    <a:pt x="0" y="56304"/>
                    <a:pt x="64426" y="0"/>
                    <a:pt x="144056" y="0"/>
                  </a:cubicBezTo>
                  <a:lnTo>
                    <a:pt x="12262700" y="0"/>
                  </a:lnTo>
                  <a:cubicBezTo>
                    <a:pt x="12342205" y="0"/>
                    <a:pt x="12406756" y="56304"/>
                    <a:pt x="12406756" y="125895"/>
                  </a:cubicBezTo>
                  <a:lnTo>
                    <a:pt x="12406756" y="6717736"/>
                  </a:lnTo>
                  <a:cubicBezTo>
                    <a:pt x="12406756" y="6787217"/>
                    <a:pt x="12342330" y="6843631"/>
                    <a:pt x="12262700" y="6843631"/>
                  </a:cubicBezTo>
                  <a:lnTo>
                    <a:pt x="144056" y="6843631"/>
                  </a:lnTo>
                  <a:cubicBezTo>
                    <a:pt x="64426" y="6843631"/>
                    <a:pt x="0" y="6787326"/>
                    <a:pt x="0" y="67177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34237" y="1235112"/>
            <a:ext cx="8309763" cy="4869180"/>
            <a:chOff x="0" y="0"/>
            <a:chExt cx="12359309" cy="72420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59309" cy="7242048"/>
            </a:xfrm>
            <a:custGeom>
              <a:avLst/>
              <a:gdLst/>
              <a:ahLst/>
              <a:cxnLst/>
              <a:rect r="r" b="b" t="t" l="l"/>
              <a:pathLst>
                <a:path h="7242048" w="12359309">
                  <a:moveTo>
                    <a:pt x="0" y="0"/>
                  </a:moveTo>
                  <a:lnTo>
                    <a:pt x="12359309" y="0"/>
                  </a:lnTo>
                  <a:lnTo>
                    <a:pt x="12359309" y="7242048"/>
                  </a:lnTo>
                  <a:lnTo>
                    <a:pt x="0" y="724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17" t="0" r="-231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29900" y="1278255"/>
            <a:ext cx="6720840" cy="480060"/>
            <a:chOff x="0" y="0"/>
            <a:chExt cx="896112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96112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Akurasi · Precision · Recall · F1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629900" y="1758315"/>
          <a:ext cx="6705600" cy="2286000"/>
        </p:xfrm>
        <a:graphic>
          <a:graphicData uri="http://schemas.openxmlformats.org/drawingml/2006/table">
            <a:tbl>
              <a:tblPr/>
              <a:tblGrid>
                <a:gridCol w="3411224"/>
                <a:gridCol w="1647188"/>
                <a:gridCol w="1647188"/>
              </a:tblGrid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Akurasi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43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DT (depth=3)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0.65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430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DT (depth=None)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0.65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430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Libre Baskerville Bold"/>
                          <a:ea typeface="Libre Baskerville Bold"/>
                          <a:cs typeface="Libre Baskerville Bold"/>
                          <a:sym typeface="Libre Baskerville Bold"/>
                        </a:rPr>
                        <a:t>Gaussian NB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0.76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FFFFFF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0.82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C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3289940" y="6988496"/>
            <a:ext cx="11708121" cy="2830449"/>
            <a:chOff x="0" y="0"/>
            <a:chExt cx="15515420" cy="37508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15420" cy="3750867"/>
            </a:xfrm>
            <a:custGeom>
              <a:avLst/>
              <a:gdLst/>
              <a:ahLst/>
              <a:cxnLst/>
              <a:rect r="r" b="b" t="t" l="l"/>
              <a:pathLst>
                <a:path h="3750867" w="15515420">
                  <a:moveTo>
                    <a:pt x="0" y="206944"/>
                  </a:moveTo>
                  <a:cubicBezTo>
                    <a:pt x="0" y="92694"/>
                    <a:pt x="46139" y="0"/>
                    <a:pt x="103007" y="0"/>
                  </a:cubicBezTo>
                  <a:lnTo>
                    <a:pt x="15412413" y="0"/>
                  </a:lnTo>
                  <a:cubicBezTo>
                    <a:pt x="15469282" y="0"/>
                    <a:pt x="15515420" y="92694"/>
                    <a:pt x="15515420" y="206944"/>
                  </a:cubicBezTo>
                  <a:lnTo>
                    <a:pt x="15515420" y="3543922"/>
                  </a:lnTo>
                  <a:cubicBezTo>
                    <a:pt x="15515420" y="3658173"/>
                    <a:pt x="15469282" y="3750867"/>
                    <a:pt x="15412413" y="3750867"/>
                  </a:cubicBezTo>
                  <a:lnTo>
                    <a:pt x="103007" y="3750867"/>
                  </a:lnTo>
                  <a:cubicBezTo>
                    <a:pt x="46139" y="3750867"/>
                    <a:pt x="0" y="3658173"/>
                    <a:pt x="0" y="3543922"/>
                  </a:cubicBezTo>
                  <a:close/>
                </a:path>
              </a:pathLst>
            </a:custGeom>
            <a:solidFill>
              <a:srgbClr val="EAF2F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436497" y="6151917"/>
            <a:ext cx="11191772" cy="3321842"/>
            <a:chOff x="0" y="0"/>
            <a:chExt cx="21086002" cy="6258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86001" cy="6258560"/>
            </a:xfrm>
            <a:custGeom>
              <a:avLst/>
              <a:gdLst/>
              <a:ahLst/>
              <a:cxnLst/>
              <a:rect r="r" b="b" t="t" l="l"/>
              <a:pathLst>
                <a:path h="6258560" w="21086001">
                  <a:moveTo>
                    <a:pt x="0" y="0"/>
                  </a:moveTo>
                  <a:lnTo>
                    <a:pt x="21086001" y="0"/>
                  </a:lnTo>
                  <a:lnTo>
                    <a:pt x="21086001" y="6258560"/>
                  </a:lnTo>
                  <a:lnTo>
                    <a:pt x="0" y="625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87" r="0" b="-2987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03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629900" y="4289827"/>
            <a:ext cx="6720840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Gaussian Naive Bayes tampil terbaik di semua metrik </a:t>
            </a:r>
            <a:r>
              <a:rPr lang="en-US" sz="1875" b="true">
                <a:solidFill>
                  <a:srgbClr val="1B243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(akurasi 76%, F1 0.82). Kedua Decision Tree sama-sama di akurasi 0.65 meski kedalamannya beda jauh — depth=3 malah sedikit unggul di recall (0.84 vs 0.74), sementara depth=None sedikit unggul di precision (0.70 vs 0.67), menunjukkan trade-off klasik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" y="685800"/>
            <a:ext cx="14401800" cy="766191"/>
            <a:chOff x="0" y="0"/>
            <a:chExt cx="19202400" cy="10215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021588"/>
            </a:xfrm>
            <a:custGeom>
              <a:avLst/>
              <a:gdLst/>
              <a:ahLst/>
              <a:cxnLst/>
              <a:rect r="r" b="b" t="t" l="l"/>
              <a:pathLst>
                <a:path h="102158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1588"/>
                  </a:lnTo>
                  <a:lnTo>
                    <a:pt x="0" y="10215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023" r="0" b="-315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021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B2430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Struktur Decision Tree &amp; Fitur Penentu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8809" y="1704975"/>
            <a:ext cx="11453636" cy="7289390"/>
            <a:chOff x="0" y="0"/>
            <a:chExt cx="14838680" cy="94437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38680" cy="9443720"/>
            </a:xfrm>
            <a:custGeom>
              <a:avLst/>
              <a:gdLst/>
              <a:ahLst/>
              <a:cxnLst/>
              <a:rect r="r" b="b" t="t" l="l"/>
              <a:pathLst>
                <a:path h="9443720" w="148386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4691996" y="0"/>
                  </a:lnTo>
                  <a:cubicBezTo>
                    <a:pt x="14773022" y="0"/>
                    <a:pt x="14838680" y="65659"/>
                    <a:pt x="14838680" y="146685"/>
                  </a:cubicBezTo>
                  <a:lnTo>
                    <a:pt x="14838680" y="9297035"/>
                  </a:lnTo>
                  <a:cubicBezTo>
                    <a:pt x="14838680" y="9378061"/>
                    <a:pt x="14773022" y="9443720"/>
                    <a:pt x="14691996" y="9443720"/>
                  </a:cubicBezTo>
                  <a:lnTo>
                    <a:pt x="146685" y="9443720"/>
                  </a:lnTo>
                  <a:cubicBezTo>
                    <a:pt x="65659" y="9443720"/>
                    <a:pt x="0" y="9378061"/>
                    <a:pt x="0" y="929703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47553" y="1920240"/>
            <a:ext cx="11079627" cy="5539813"/>
            <a:chOff x="0" y="0"/>
            <a:chExt cx="14264640" cy="7132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64639" cy="7132320"/>
            </a:xfrm>
            <a:custGeom>
              <a:avLst/>
              <a:gdLst/>
              <a:ahLst/>
              <a:cxnLst/>
              <a:rect r="r" b="b" t="t" l="l"/>
              <a:pathLst>
                <a:path h="713232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7132320"/>
                  </a:lnTo>
                  <a:lnTo>
                    <a:pt x="0" y="7132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6" t="0" r="-366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7629754"/>
            <a:ext cx="10698480" cy="480060"/>
            <a:chOff x="0" y="0"/>
            <a:chExt cx="1426464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264639" cy="640080"/>
            </a:xfrm>
            <a:custGeom>
              <a:avLst/>
              <a:gdLst/>
              <a:ahLst/>
              <a:cxnLst/>
              <a:rect r="r" b="b" t="t" l="l"/>
              <a:pathLst>
                <a:path h="64008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237" r="0" b="-3842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4264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5B6B77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Decision Tree (max_depth=3) — akar pemisah: IPK ≤ 2.885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086423" y="1828800"/>
            <a:ext cx="6201577" cy="662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6"/>
              </a:lnSpc>
            </a:pPr>
            <a:r>
              <a:rPr lang="en-US" sz="2646" b="true">
                <a:solidFill>
                  <a:srgbClr val="065A8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Pola pemisah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IPK jadi pemisah pertama (memisahkan 400 data jadi 148 vs 252), diikuti Kehadiran di level kedua (ambang 69.95 / 80.35 tergantung cabang), lalu Jam_Belajar atau IPK lagi di level ketiga. Semuanya fitur akademik — bukan Nilai_Tugas atau Partisipasi_Diskusi.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3176"/>
              </a:lnSpc>
            </a:pPr>
            <a:r>
              <a:rPr lang="en-US" sz="2646" b="true">
                <a:solidFill>
                  <a:srgbClr val="B85042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Catatan fairness</a:t>
            </a:r>
          </a:p>
          <a:p>
            <a:pPr algn="l">
              <a:lnSpc>
                <a:spcPts val="2722"/>
              </a:lnSpc>
            </a:pPr>
          </a:p>
          <a:p>
            <a:pPr algn="l">
              <a:lnSpc>
                <a:spcPts val="2722"/>
              </a:lnSpc>
            </a:pPr>
            <a:r>
              <a:rPr lang="en-US" sz="2268">
                <a:solidFill>
                  <a:srgbClr val="1B243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Penghasilan_Ortu dan Jenis_Kelamin sama sekali tidak muncul di pohon dangkal ini. Tetap perlu audit keadilan sebelum dipakai untuk keputusan resmi seperti beasiswa, mengingat Penghasilan_Ortu secara historis berkorelasi dengan Status_Beasiswa.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AA7B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7680960"/>
            <a:ext cx="4663440" cy="4663440"/>
            <a:chOff x="0" y="0"/>
            <a:chExt cx="6217920" cy="6217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754380"/>
            <a:ext cx="466344" cy="466344"/>
            <a:chOff x="0" y="0"/>
            <a:chExt cx="621792" cy="6217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5488" y="0"/>
                  </a:lnTo>
                  <a:cubicBezTo>
                    <a:pt x="556260" y="0"/>
                    <a:pt x="621792" y="65532"/>
                    <a:pt x="621792" y="146304"/>
                  </a:cubicBezTo>
                  <a:lnTo>
                    <a:pt x="621792" y="475488"/>
                  </a:lnTo>
                  <a:cubicBezTo>
                    <a:pt x="621792" y="556260"/>
                    <a:pt x="556260" y="621792"/>
                    <a:pt x="475488" y="621792"/>
                  </a:cubicBezTo>
                  <a:lnTo>
                    <a:pt x="146304" y="621792"/>
                  </a:lnTo>
                  <a:cubicBezTo>
                    <a:pt x="65532" y="621792"/>
                    <a:pt x="0" y="556260"/>
                    <a:pt x="0" y="47548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8760" y="685800"/>
            <a:ext cx="14401800" cy="822960"/>
            <a:chOff x="0" y="0"/>
            <a:chExt cx="19202400" cy="10972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154" r="0" b="-2868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92024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Libre Baskerville Bold"/>
                  <a:ea typeface="Libre Baskerville Bold"/>
                  <a:cs typeface="Libre Baskerville Bold"/>
                  <a:sym typeface="Libre Baskerville Bold"/>
                </a:rPr>
                <a:t>Simulasi Prediksi &amp; Kesimpulan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783080"/>
            <a:ext cx="16527780" cy="2348103"/>
            <a:chOff x="0" y="0"/>
            <a:chExt cx="22037040" cy="31308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37041" cy="3130804"/>
            </a:xfrm>
            <a:custGeom>
              <a:avLst/>
              <a:gdLst/>
              <a:ahLst/>
              <a:cxnLst/>
              <a:rect r="r" b="b" t="t" l="l"/>
              <a:pathLst>
                <a:path h="3130804" w="22037041">
                  <a:moveTo>
                    <a:pt x="0" y="161590"/>
                  </a:moveTo>
                  <a:cubicBezTo>
                    <a:pt x="0" y="72379"/>
                    <a:pt x="65532" y="0"/>
                    <a:pt x="146304" y="0"/>
                  </a:cubicBezTo>
                  <a:lnTo>
                    <a:pt x="21890737" y="0"/>
                  </a:lnTo>
                  <a:cubicBezTo>
                    <a:pt x="21971508" y="0"/>
                    <a:pt x="22037041" y="72379"/>
                    <a:pt x="22037041" y="161590"/>
                  </a:cubicBezTo>
                  <a:lnTo>
                    <a:pt x="22037041" y="2969214"/>
                  </a:lnTo>
                  <a:cubicBezTo>
                    <a:pt x="22037041" y="3058425"/>
                    <a:pt x="21971508" y="3130804"/>
                    <a:pt x="21890737" y="3130804"/>
                  </a:cubicBezTo>
                  <a:lnTo>
                    <a:pt x="146304" y="3130804"/>
                  </a:lnTo>
                  <a:cubicBezTo>
                    <a:pt x="65532" y="3130804"/>
                    <a:pt x="0" y="3058425"/>
                    <a:pt x="0" y="296921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1900388"/>
            <a:ext cx="15841980" cy="2113487"/>
            <a:chOff x="0" y="0"/>
            <a:chExt cx="21122640" cy="2817983"/>
          </a:xfrm>
        </p:grpSpPr>
        <p:sp>
          <p:nvSpPr>
            <p:cNvPr name="Freeform 12" id="12" descr="Cuplikan_layar_2026-09-07_231044.png"/>
            <p:cNvSpPr/>
            <p:nvPr/>
          </p:nvSpPr>
          <p:spPr>
            <a:xfrm flipH="false" flipV="false" rot="0">
              <a:off x="0" y="0"/>
              <a:ext cx="21122639" cy="2817983"/>
            </a:xfrm>
            <a:custGeom>
              <a:avLst/>
              <a:gdLst/>
              <a:ahLst/>
              <a:cxnLst/>
              <a:rect r="r" b="b" t="t" l="l"/>
              <a:pathLst>
                <a:path h="2817983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2817983"/>
                  </a:lnTo>
                  <a:lnTo>
                    <a:pt x="0" y="2817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17" r="0" b="-48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4131183"/>
            <a:ext cx="16527780" cy="438912"/>
            <a:chOff x="0" y="0"/>
            <a:chExt cx="22037040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37039" cy="585216"/>
            </a:xfrm>
            <a:custGeom>
              <a:avLst/>
              <a:gdLst/>
              <a:ahLst/>
              <a:cxnLst/>
              <a:rect r="r" b="b" t="t" l="l"/>
              <a:pathLst>
                <a:path h="58521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733" r="0" b="-68373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2037040" cy="575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9FB3C8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Contoh hasil prediksi model pada data uji (kolom Status_Akademik = label aktual, Prediksi_Model = keluaran model)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22960" y="4741545"/>
            <a:ext cx="809244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 b="true">
                <a:solidFill>
                  <a:srgbClr val="FFFFF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Model sesekali salah pada kasus kontras —</a:t>
            </a:r>
            <a:r>
              <a:rPr lang="en-US" sz="1875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mis. mahasiswa index 429 dengan IPK tinggi (3,8) tapi kehadiran rendah (52%) diprediksi “Lulus” padahal aktualnya “Tidak”. Ini menunjukkan model masih bisa terlalu mengandalkan satu fitur dominan.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086850" y="4457506"/>
            <a:ext cx="2855595" cy="4673159"/>
            <a:chOff x="0" y="0"/>
            <a:chExt cx="3591560" cy="5877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505188" y="5006340"/>
            <a:ext cx="2194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Gaussian Naive Bayes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17368" y="6044565"/>
            <a:ext cx="219456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Rekomendasi baseline utama — metrik tertinggi &amp; cepat dihitung.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5790" y="4457506"/>
            <a:ext cx="2855595" cy="4673159"/>
            <a:chOff x="0" y="0"/>
            <a:chExt cx="3591560" cy="5877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454128" y="5006340"/>
            <a:ext cx="219456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Decision Tree (depth=3)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7002" y="6044565"/>
            <a:ext cx="2451686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Pilih jika aturan perlu mudah dijelaskan ke pihak kampus.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000447" y="4483227"/>
            <a:ext cx="2839878" cy="4647438"/>
            <a:chOff x="0" y="0"/>
            <a:chExt cx="3591560" cy="5877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91560" cy="5877560"/>
            </a:xfrm>
            <a:custGeom>
              <a:avLst/>
              <a:gdLst/>
              <a:ahLst/>
              <a:cxnLst/>
              <a:rect r="r" b="b" t="t" l="l"/>
              <a:pathLst>
                <a:path h="5877560" w="35915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3407410" y="0"/>
                  </a:lnTo>
                  <a:cubicBezTo>
                    <a:pt x="3509137" y="0"/>
                    <a:pt x="3591560" y="82423"/>
                    <a:pt x="3591560" y="184150"/>
                  </a:cubicBezTo>
                  <a:lnTo>
                    <a:pt x="3591560" y="5693410"/>
                  </a:lnTo>
                  <a:cubicBezTo>
                    <a:pt x="3591560" y="5795137"/>
                    <a:pt x="3509137" y="5877560"/>
                    <a:pt x="3407410" y="5877560"/>
                  </a:cubicBezTo>
                  <a:lnTo>
                    <a:pt x="184150" y="5877560"/>
                  </a:lnTo>
                  <a:cubicBezTo>
                    <a:pt x="82423" y="5877560"/>
                    <a:pt x="0" y="5795137"/>
                    <a:pt x="0" y="5693410"/>
                  </a:cubicBezTo>
                  <a:close/>
                </a:path>
              </a:pathLst>
            </a:custGeom>
            <a:solidFill>
              <a:srgbClr val="1A2456"/>
            </a:solidFill>
            <a:ln w="19050" cap="sq">
              <a:solidFill>
                <a:srgbClr val="34407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5403068" y="5006340"/>
            <a:ext cx="219456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6FE3D6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Langkah lanjut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03068" y="6044565"/>
            <a:ext cx="219456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CADCFC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Uji fitur tambahan &amp; audit keadilan sebelum dipakai institusional.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7213580" y="9710928"/>
            <a:ext cx="822960" cy="438912"/>
            <a:chOff x="0" y="0"/>
            <a:chExt cx="109728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972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9FB3C8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05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DAHUiKChZws</dc:identifier>
  <dcterms:modified xsi:type="dcterms:W3CDTF">2011-08-01T06:04:30Z</dcterms:modified>
  <cp:revision>1</cp:revision>
  <dc:title>TUGAS MACHINE LEARNING_PREDIKSI KELULUSAN MAHASISWA.pptx</dc:title>
</cp:coreProperties>
</file>